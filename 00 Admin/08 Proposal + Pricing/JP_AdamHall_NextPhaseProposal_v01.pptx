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365760"/>
            <a:ext cx="1005840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JP · ADAM HALL · NEXT PHASE PROPOSAL</a:t>
            </a:r>
          </a:p>
        </p:txBody>
      </p:sp>
      <p:sp>
        <p:nvSpPr>
          <p:cNvPr id="3" name="TextBox 2"/>
          <p:cNvSpPr txBox="1"/>
          <p:nvPr/>
        </p:nvSpPr>
        <p:spPr>
          <a:xfrm>
            <a:off x="914400" y="3108960"/>
            <a:ext cx="10332720" cy="2194560"/>
          </a:xfrm>
          <a:prstGeom prst="rect">
            <a:avLst/>
          </a:prstGeom>
          <a:noFill/>
        </p:spPr>
        <p:txBody>
          <a:bodyPr wrap="square" lIns="0" rIns="0" tIns="0" bIns="0" anchor="b">
            <a:spAutoFit/>
          </a:bodyPr>
          <a:lstStyle/>
          <a:p>
            <a:pPr algn="l">
              <a:lnSpc>
                <a:spcPct val="105000"/>
              </a:lnSpc>
            </a:pPr>
            <a:r>
              <a:rPr sz="7200" b="1">
                <a:solidFill>
                  <a:srgbClr val="111111"/>
                </a:solidFill>
                <a:latin typeface="Poppins"/>
              </a:rPr>
              <a:t>The Adam Hall Operating System.</a:t>
            </a:r>
          </a:p>
        </p:txBody>
      </p:sp>
      <p:sp>
        <p:nvSpPr>
          <p:cNvPr id="4" name="TextBox 3"/>
          <p:cNvSpPr txBox="1"/>
          <p:nvPr/>
        </p:nvSpPr>
        <p:spPr>
          <a:xfrm>
            <a:off x="914400" y="5577840"/>
            <a:ext cx="10332720" cy="548640"/>
          </a:xfrm>
          <a:prstGeom prst="rect">
            <a:avLst/>
          </a:prstGeom>
          <a:noFill/>
        </p:spPr>
        <p:txBody>
          <a:bodyPr wrap="square" lIns="0" rIns="0" tIns="0" bIns="0" anchor="t">
            <a:spAutoFit/>
          </a:bodyPr>
          <a:lstStyle/>
          <a:p>
            <a:pPr algn="l">
              <a:lnSpc>
                <a:spcPct val="120000"/>
              </a:lnSpc>
            </a:pPr>
            <a:r>
              <a:rPr sz="2000" b="0">
                <a:solidFill>
                  <a:srgbClr val="111111"/>
                </a:solidFill>
                <a:latin typeface="Poppins"/>
              </a:rPr>
              <a:t>What we build next, and what it makes possible.</a:t>
            </a:r>
          </a:p>
        </p:txBody>
      </p:sp>
      <p:sp>
        <p:nvSpPr>
          <p:cNvPr id="5" name="TextBox 4"/>
          <p:cNvSpPr txBox="1"/>
          <p:nvPr/>
        </p:nvSpPr>
        <p:spPr>
          <a:xfrm>
            <a:off x="8229600" y="6355080"/>
            <a:ext cx="3017520" cy="274320"/>
          </a:xfrm>
          <a:prstGeom prst="rect">
            <a:avLst/>
          </a:prstGeom>
          <a:noFill/>
        </p:spPr>
        <p:txBody>
          <a:bodyPr wrap="square" lIns="0" rIns="0" tIns="0" bIns="0" anchor="t">
            <a:spAutoFit/>
          </a:bodyPr>
          <a:lstStyle/>
          <a:p>
            <a:pPr algn="r">
              <a:lnSpc>
                <a:spcPct val="150000"/>
              </a:lnSpc>
            </a:pPr>
            <a:r>
              <a:rPr sz="1100" b="0">
                <a:solidFill>
                  <a:srgbClr val="666666"/>
                </a:solidFill>
                <a:latin typeface="Poppins"/>
              </a:rPr>
              <a:t>14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1400" b="0" spc="200">
                <a:solidFill>
                  <a:srgbClr val="FAF8F4"/>
                </a:solidFill>
                <a:latin typeface="Poppins"/>
              </a:rPr>
              <a:t>PART 01</a:t>
            </a:r>
          </a:p>
        </p:txBody>
      </p:sp>
      <p:sp>
        <p:nvSpPr>
          <p:cNvPr id="3" name="TextBox 2"/>
          <p:cNvSpPr txBox="1"/>
          <p:nvPr/>
        </p:nvSpPr>
        <p:spPr>
          <a:xfrm>
            <a:off x="914400" y="2286000"/>
            <a:ext cx="10332720" cy="2743200"/>
          </a:xfrm>
          <a:prstGeom prst="rect">
            <a:avLst/>
          </a:prstGeom>
          <a:noFill/>
        </p:spPr>
        <p:txBody>
          <a:bodyPr wrap="square" lIns="0" rIns="0" tIns="0" bIns="0" anchor="ctr">
            <a:spAutoFit/>
          </a:bodyPr>
          <a:lstStyle/>
          <a:p>
            <a:pPr algn="l">
              <a:lnSpc>
                <a:spcPct val="100000"/>
              </a:lnSpc>
            </a:pPr>
            <a:r>
              <a:rPr sz="12000" b="0">
                <a:solidFill>
                  <a:srgbClr val="FAF8F4"/>
                </a:solidFill>
                <a:latin typeface="Poppins"/>
              </a:rPr>
              <a:t>The gap.</a:t>
            </a:r>
          </a:p>
        </p:txBody>
      </p:sp>
      <p:sp>
        <p:nvSpPr>
          <p:cNvPr id="4" name="TextBox 3"/>
          <p:cNvSpPr txBox="1"/>
          <p:nvPr/>
        </p:nvSpPr>
        <p:spPr>
          <a:xfrm>
            <a:off x="914400" y="5303520"/>
            <a:ext cx="10332720" cy="457200"/>
          </a:xfrm>
          <a:prstGeom prst="rect">
            <a:avLst/>
          </a:prstGeom>
          <a:noFill/>
        </p:spPr>
        <p:txBody>
          <a:bodyPr wrap="square" lIns="0" rIns="0" tIns="0" bIns="0" anchor="t">
            <a:spAutoFit/>
          </a:bodyPr>
          <a:lstStyle/>
          <a:p>
            <a:pPr algn="l">
              <a:lnSpc>
                <a:spcPct val="150000"/>
              </a:lnSpc>
            </a:pPr>
            <a:r>
              <a:rPr sz="1600" b="0">
                <a:solidFill>
                  <a:srgbClr val="FAF8F4"/>
                </a:solidFill>
                <a:latin typeface="Poppins"/>
              </a:rPr>
              <a:t>Where the business stands, and what holds it 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WHAT WE KNOW</a:t>
            </a:r>
          </a:p>
        </p:txBody>
      </p:sp>
      <p:sp>
        <p:nvSpPr>
          <p:cNvPr id="3" name="TextBox 2"/>
          <p:cNvSpPr txBox="1"/>
          <p:nvPr/>
        </p:nvSpPr>
        <p:spPr>
          <a:xfrm>
            <a:off x="914400" y="1645920"/>
            <a:ext cx="10332720" cy="1645920"/>
          </a:xfrm>
          <a:prstGeom prst="rect">
            <a:avLst/>
          </a:prstGeom>
          <a:noFill/>
        </p:spPr>
        <p:txBody>
          <a:bodyPr wrap="square" lIns="0" rIns="0" tIns="0" bIns="0" anchor="t">
            <a:spAutoFit/>
          </a:bodyPr>
          <a:lstStyle/>
          <a:p>
            <a:pPr algn="l">
              <a:lnSpc>
                <a:spcPct val="110000"/>
              </a:lnSpc>
            </a:pPr>
            <a:r>
              <a:rPr sz="4200" b="0">
                <a:solidFill>
                  <a:srgbClr val="111111"/>
                </a:solidFill>
                <a:latin typeface="Poppins"/>
              </a:rPr>
              <a:t>A $5M trust business, built one conversation at a time.</a:t>
            </a:r>
          </a:p>
        </p:txBody>
      </p:sp>
      <p:cxnSp>
        <p:nvCxnSpPr>
          <p:cNvPr id="4" name="Connector 3"/>
          <p:cNvCxnSpPr/>
          <p:nvPr/>
        </p:nvCxnSpPr>
        <p:spPr>
          <a:xfrm>
            <a:off x="914400" y="3931920"/>
            <a:ext cx="10332720" cy="0"/>
          </a:xfrm>
          <a:prstGeom prst="line">
            <a:avLst/>
          </a:prstGeom>
          <a:ln w="9525">
            <a:solidFill>
              <a:srgbClr val="EDEB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4297680"/>
            <a:ext cx="3200400" cy="822960"/>
          </a:xfrm>
          <a:prstGeom prst="rect">
            <a:avLst/>
          </a:prstGeom>
          <a:noFill/>
        </p:spPr>
        <p:txBody>
          <a:bodyPr wrap="square" lIns="0" rIns="0" tIns="0" bIns="0" anchor="t">
            <a:spAutoFit/>
          </a:bodyPr>
          <a:lstStyle/>
          <a:p>
            <a:pPr algn="l">
              <a:lnSpc>
                <a:spcPct val="100000"/>
              </a:lnSpc>
            </a:pPr>
            <a:r>
              <a:rPr sz="4000" b="1">
                <a:solidFill>
                  <a:srgbClr val="111111"/>
                </a:solidFill>
                <a:latin typeface="Poppins"/>
              </a:rPr>
              <a:t>25 cars</a:t>
            </a:r>
          </a:p>
        </p:txBody>
      </p:sp>
      <p:sp>
        <p:nvSpPr>
          <p:cNvPr id="6" name="TextBox 5"/>
          <p:cNvSpPr txBox="1"/>
          <p:nvPr/>
        </p:nvSpPr>
        <p:spPr>
          <a:xfrm>
            <a:off x="914400" y="5120640"/>
            <a:ext cx="3200400" cy="914400"/>
          </a:xfrm>
          <a:prstGeom prst="rect">
            <a:avLst/>
          </a:prstGeom>
          <a:noFill/>
        </p:spPr>
        <p:txBody>
          <a:bodyPr wrap="square" lIns="0" rIns="0" tIns="0" bIns="0" anchor="t">
            <a:spAutoFit/>
          </a:bodyPr>
          <a:lstStyle/>
          <a:p>
            <a:pPr algn="l">
              <a:lnSpc>
                <a:spcPct val="130000"/>
              </a:lnSpc>
            </a:pPr>
            <a:r>
              <a:rPr sz="1200" b="0">
                <a:solidFill>
                  <a:srgbClr val="666666"/>
                </a:solidFill>
                <a:latin typeface="Poppins"/>
              </a:rPr>
              <a:t>Bought every month, in a range of 20 to 30.</a:t>
            </a:r>
          </a:p>
        </p:txBody>
      </p:sp>
      <p:sp>
        <p:nvSpPr>
          <p:cNvPr id="7" name="TextBox 6"/>
          <p:cNvSpPr txBox="1"/>
          <p:nvPr/>
        </p:nvSpPr>
        <p:spPr>
          <a:xfrm>
            <a:off x="4480560" y="4297680"/>
            <a:ext cx="3200400" cy="822960"/>
          </a:xfrm>
          <a:prstGeom prst="rect">
            <a:avLst/>
          </a:prstGeom>
          <a:noFill/>
        </p:spPr>
        <p:txBody>
          <a:bodyPr wrap="square" lIns="0" rIns="0" tIns="0" bIns="0" anchor="t">
            <a:spAutoFit/>
          </a:bodyPr>
          <a:lstStyle/>
          <a:p>
            <a:pPr algn="l">
              <a:lnSpc>
                <a:spcPct val="100000"/>
              </a:lnSpc>
            </a:pPr>
            <a:r>
              <a:rPr sz="4000" b="1">
                <a:solidFill>
                  <a:srgbClr val="111111"/>
                </a:solidFill>
                <a:latin typeface="Poppins"/>
              </a:rPr>
              <a:t>90% retail</a:t>
            </a:r>
          </a:p>
        </p:txBody>
      </p:sp>
      <p:sp>
        <p:nvSpPr>
          <p:cNvPr id="8" name="TextBox 7"/>
          <p:cNvSpPr txBox="1"/>
          <p:nvPr/>
        </p:nvSpPr>
        <p:spPr>
          <a:xfrm>
            <a:off x="4480560" y="5120640"/>
            <a:ext cx="3200400" cy="914400"/>
          </a:xfrm>
          <a:prstGeom prst="rect">
            <a:avLst/>
          </a:prstGeom>
          <a:noFill/>
        </p:spPr>
        <p:txBody>
          <a:bodyPr wrap="square" lIns="0" rIns="0" tIns="0" bIns="0" anchor="t">
            <a:spAutoFit/>
          </a:bodyPr>
          <a:lstStyle/>
          <a:p>
            <a:pPr algn="l">
              <a:lnSpc>
                <a:spcPct val="130000"/>
              </a:lnSpc>
            </a:pPr>
            <a:r>
              <a:rPr sz="1200" b="0">
                <a:solidFill>
                  <a:srgbClr val="666666"/>
                </a:solidFill>
                <a:latin typeface="Poppins"/>
              </a:rPr>
              <a:t>Trust-first customers, most aged 60 to 75 plus.</a:t>
            </a:r>
          </a:p>
        </p:txBody>
      </p:sp>
      <p:sp>
        <p:nvSpPr>
          <p:cNvPr id="9" name="TextBox 8"/>
          <p:cNvSpPr txBox="1"/>
          <p:nvPr/>
        </p:nvSpPr>
        <p:spPr>
          <a:xfrm>
            <a:off x="8046720" y="4297680"/>
            <a:ext cx="3200400" cy="822960"/>
          </a:xfrm>
          <a:prstGeom prst="rect">
            <a:avLst/>
          </a:prstGeom>
          <a:noFill/>
        </p:spPr>
        <p:txBody>
          <a:bodyPr wrap="square" lIns="0" rIns="0" tIns="0" bIns="0" anchor="t">
            <a:spAutoFit/>
          </a:bodyPr>
          <a:lstStyle/>
          <a:p>
            <a:pPr algn="l">
              <a:lnSpc>
                <a:spcPct val="100000"/>
              </a:lnSpc>
            </a:pPr>
            <a:r>
              <a:rPr sz="4000" b="1">
                <a:solidFill>
                  <a:srgbClr val="111111"/>
                </a:solidFill>
                <a:latin typeface="Poppins"/>
              </a:rPr>
              <a:t>$4,200</a:t>
            </a:r>
          </a:p>
        </p:txBody>
      </p:sp>
      <p:sp>
        <p:nvSpPr>
          <p:cNvPr id="10" name="TextBox 9"/>
          <p:cNvSpPr txBox="1"/>
          <p:nvPr/>
        </p:nvSpPr>
        <p:spPr>
          <a:xfrm>
            <a:off x="8046720" y="5120640"/>
            <a:ext cx="3200400" cy="914400"/>
          </a:xfrm>
          <a:prstGeom prst="rect">
            <a:avLst/>
          </a:prstGeom>
          <a:noFill/>
        </p:spPr>
        <p:txBody>
          <a:bodyPr wrap="square" lIns="0" rIns="0" tIns="0" bIns="0" anchor="t">
            <a:spAutoFit/>
          </a:bodyPr>
          <a:lstStyle/>
          <a:p>
            <a:pPr algn="l">
              <a:lnSpc>
                <a:spcPct val="130000"/>
              </a:lnSpc>
            </a:pPr>
            <a:r>
              <a:rPr sz="1200" b="0">
                <a:solidFill>
                  <a:srgbClr val="666666"/>
                </a:solidFill>
                <a:latin typeface="Poppins"/>
              </a:rPr>
              <a:t>Average retail gross per car.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THE CONSTRAINT</a:t>
            </a:r>
          </a:p>
        </p:txBody>
      </p:sp>
      <p:sp>
        <p:nvSpPr>
          <p:cNvPr id="3" name="TextBox 2"/>
          <p:cNvSpPr txBox="1"/>
          <p:nvPr/>
        </p:nvSpPr>
        <p:spPr>
          <a:xfrm>
            <a:off x="914400" y="1645920"/>
            <a:ext cx="10332720" cy="2011680"/>
          </a:xfrm>
          <a:prstGeom prst="rect">
            <a:avLst/>
          </a:prstGeom>
          <a:noFill/>
        </p:spPr>
        <p:txBody>
          <a:bodyPr wrap="square" lIns="0" rIns="0" tIns="0" bIns="0" anchor="t">
            <a:spAutoFit/>
          </a:bodyPr>
          <a:lstStyle/>
          <a:p>
            <a:pPr algn="l">
              <a:lnSpc>
                <a:spcPct val="110000"/>
              </a:lnSpc>
            </a:pPr>
            <a:r>
              <a:rPr sz="4200" b="0">
                <a:solidFill>
                  <a:srgbClr val="111111"/>
                </a:solidFill>
                <a:latin typeface="Poppins"/>
              </a:rPr>
              <a:t>Adam is the system. That is the asset, and the risk.</a:t>
            </a:r>
          </a:p>
        </p:txBody>
      </p:sp>
      <p:sp>
        <p:nvSpPr>
          <p:cNvPr id="4" name="TextBox 3"/>
          <p:cNvSpPr txBox="1"/>
          <p:nvPr/>
        </p:nvSpPr>
        <p:spPr>
          <a:xfrm>
            <a:off x="914400" y="4023360"/>
            <a:ext cx="7315200" cy="22860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The valuation logic, the yes or no instinct, the customer trust technique and the payment discipline live in one head. None of it is written down. Until it is, the business cannot hire well, cannot scale past ~$5M, and cannot be sold.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THE PRIZE</a:t>
            </a:r>
          </a:p>
        </p:txBody>
      </p:sp>
      <p:sp>
        <p:nvSpPr>
          <p:cNvPr id="3" name="TextBox 2"/>
          <p:cNvSpPr txBox="1"/>
          <p:nvPr/>
        </p:nvSpPr>
        <p:spPr>
          <a:xfrm>
            <a:off x="914400" y="1645920"/>
            <a:ext cx="10332720" cy="2011680"/>
          </a:xfrm>
          <a:prstGeom prst="rect">
            <a:avLst/>
          </a:prstGeom>
          <a:noFill/>
        </p:spPr>
        <p:txBody>
          <a:bodyPr wrap="square" lIns="0" rIns="0" tIns="0" bIns="0" anchor="t">
            <a:spAutoFit/>
          </a:bodyPr>
          <a:lstStyle/>
          <a:p>
            <a:pPr algn="l">
              <a:lnSpc>
                <a:spcPct val="110000"/>
              </a:lnSpc>
            </a:pPr>
            <a:r>
              <a:rPr sz="4200" b="0">
                <a:solidFill>
                  <a:srgbClr val="111111"/>
                </a:solidFill>
                <a:latin typeface="Poppins"/>
              </a:rPr>
              <a:t>From $5M to $7M, then the 10x path.</a:t>
            </a:r>
          </a:p>
        </p:txBody>
      </p:sp>
      <p:sp>
        <p:nvSpPr>
          <p:cNvPr id="4" name="TextBox 3"/>
          <p:cNvSpPr txBox="1"/>
          <p:nvPr/>
        </p:nvSpPr>
        <p:spPr>
          <a:xfrm>
            <a:off x="914400" y="4023360"/>
            <a:ext cx="7315200" cy="22860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Cars For Us launched in 2019, reached $500M and sold to Toyota for $120M. That is the north star. The gap is not ambition. It is a documented system a team can run without Adam in every deal.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1400" b="0" spc="200">
                <a:solidFill>
                  <a:srgbClr val="FAF8F4"/>
                </a:solidFill>
                <a:latin typeface="Poppins"/>
              </a:rPr>
              <a:t>PART 02</a:t>
            </a:r>
          </a:p>
        </p:txBody>
      </p:sp>
      <p:sp>
        <p:nvSpPr>
          <p:cNvPr id="3" name="TextBox 2"/>
          <p:cNvSpPr txBox="1"/>
          <p:nvPr/>
        </p:nvSpPr>
        <p:spPr>
          <a:xfrm>
            <a:off x="914400" y="2286000"/>
            <a:ext cx="10332720" cy="2743200"/>
          </a:xfrm>
          <a:prstGeom prst="rect">
            <a:avLst/>
          </a:prstGeom>
          <a:noFill/>
        </p:spPr>
        <p:txBody>
          <a:bodyPr wrap="square" lIns="0" rIns="0" tIns="0" bIns="0" anchor="ctr">
            <a:spAutoFit/>
          </a:bodyPr>
          <a:lstStyle/>
          <a:p>
            <a:pPr algn="l">
              <a:lnSpc>
                <a:spcPct val="100000"/>
              </a:lnSpc>
            </a:pPr>
            <a:r>
              <a:rPr sz="12000" b="0">
                <a:solidFill>
                  <a:srgbClr val="FAF8F4"/>
                </a:solidFill>
                <a:latin typeface="Poppins"/>
              </a:rPr>
              <a:t>The work.</a:t>
            </a:r>
          </a:p>
        </p:txBody>
      </p:sp>
      <p:sp>
        <p:nvSpPr>
          <p:cNvPr id="4" name="TextBox 3"/>
          <p:cNvSpPr txBox="1"/>
          <p:nvPr/>
        </p:nvSpPr>
        <p:spPr>
          <a:xfrm>
            <a:off x="914400" y="5303520"/>
            <a:ext cx="10332720" cy="457200"/>
          </a:xfrm>
          <a:prstGeom prst="rect">
            <a:avLst/>
          </a:prstGeom>
          <a:noFill/>
        </p:spPr>
        <p:txBody>
          <a:bodyPr wrap="square" lIns="0" rIns="0" tIns="0" bIns="0" anchor="t">
            <a:spAutoFit/>
          </a:bodyPr>
          <a:lstStyle/>
          <a:p>
            <a:pPr algn="l">
              <a:lnSpc>
                <a:spcPct val="150000"/>
              </a:lnSpc>
            </a:pPr>
            <a:r>
              <a:rPr sz="1600" b="0">
                <a:solidFill>
                  <a:srgbClr val="FAF8F4"/>
                </a:solidFill>
                <a:latin typeface="Poppins"/>
              </a:rPr>
              <a:t>Three moves. Re-Discover. Design. Activate.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MOVE 01 · RE-DISCOVER</a:t>
            </a:r>
          </a:p>
        </p:txBody>
      </p:sp>
      <p:sp>
        <p:nvSpPr>
          <p:cNvPr id="3" name="TextBox 2"/>
          <p:cNvSpPr txBox="1"/>
          <p:nvPr/>
        </p:nvSpPr>
        <p:spPr>
          <a:xfrm>
            <a:off x="914400" y="1645920"/>
            <a:ext cx="10332720" cy="2011680"/>
          </a:xfrm>
          <a:prstGeom prst="rect">
            <a:avLst/>
          </a:prstGeom>
          <a:noFill/>
        </p:spPr>
        <p:txBody>
          <a:bodyPr wrap="square" lIns="0" rIns="0" tIns="0" bIns="0" anchor="t">
            <a:spAutoFit/>
          </a:bodyPr>
          <a:lstStyle/>
          <a:p>
            <a:pPr algn="l">
              <a:lnSpc>
                <a:spcPct val="110000"/>
              </a:lnSpc>
            </a:pPr>
            <a:r>
              <a:rPr sz="4200" b="0">
                <a:solidFill>
                  <a:srgbClr val="111111"/>
                </a:solidFill>
                <a:latin typeface="Poppins"/>
              </a:rPr>
              <a:t>Map how Adam actually runs it, live and in the room.</a:t>
            </a:r>
          </a:p>
        </p:txBody>
      </p:sp>
      <p:sp>
        <p:nvSpPr>
          <p:cNvPr id="4" name="TextBox 3"/>
          <p:cNvSpPr txBox="1"/>
          <p:nvPr/>
        </p:nvSpPr>
        <p:spPr>
          <a:xfrm>
            <a:off x="914400" y="4023360"/>
            <a:ext cx="7315200" cy="22860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Structured mapping sessions capture the real workflow. Leads, valuations, yes or no calls, payment and paperwork. For every judgement call we find the decision rule, what flips a yes to a no. Nothing gets automated in the room. We capture first, build later.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MOVE 02 · DESIGN</a:t>
            </a:r>
          </a:p>
        </p:txBody>
      </p:sp>
      <p:sp>
        <p:nvSpPr>
          <p:cNvPr id="3" name="TextBox 2"/>
          <p:cNvSpPr txBox="1"/>
          <p:nvPr/>
        </p:nvSpPr>
        <p:spPr>
          <a:xfrm>
            <a:off x="914400" y="1645920"/>
            <a:ext cx="10332720" cy="2011680"/>
          </a:xfrm>
          <a:prstGeom prst="rect">
            <a:avLst/>
          </a:prstGeom>
          <a:noFill/>
        </p:spPr>
        <p:txBody>
          <a:bodyPr wrap="square" lIns="0" rIns="0" tIns="0" bIns="0" anchor="t">
            <a:spAutoFit/>
          </a:bodyPr>
          <a:lstStyle/>
          <a:p>
            <a:pPr algn="l">
              <a:lnSpc>
                <a:spcPct val="110000"/>
              </a:lnSpc>
            </a:pPr>
            <a:r>
              <a:rPr sz="4200" b="0">
                <a:solidFill>
                  <a:srgbClr val="111111"/>
                </a:solidFill>
                <a:latin typeface="Poppins"/>
              </a:rPr>
              <a:t>Turn that judgement into the Adam Hall Standard.</a:t>
            </a:r>
          </a:p>
        </p:txBody>
      </p:sp>
      <p:sp>
        <p:nvSpPr>
          <p:cNvPr id="4" name="TextBox 3"/>
          <p:cNvSpPr txBox="1"/>
          <p:nvPr/>
        </p:nvSpPr>
        <p:spPr>
          <a:xfrm>
            <a:off x="914400" y="4023360"/>
            <a:ext cx="7315200" cy="22860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SOPs, call scripts, valuation rules, hiring briefs and training built on the Adam Hall values. Empathy first, then the solution. Values first, skills second. Anything touching money, ID, PPSR, rego or settlement is treated as high-control and confirmed, never assumed.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MOVE 03 · ACTIVATE</a:t>
            </a:r>
          </a:p>
        </p:txBody>
      </p:sp>
      <p:sp>
        <p:nvSpPr>
          <p:cNvPr id="3" name="TextBox 2"/>
          <p:cNvSpPr txBox="1"/>
          <p:nvPr/>
        </p:nvSpPr>
        <p:spPr>
          <a:xfrm>
            <a:off x="914400" y="1645920"/>
            <a:ext cx="10332720" cy="2011680"/>
          </a:xfrm>
          <a:prstGeom prst="rect">
            <a:avLst/>
          </a:prstGeom>
          <a:noFill/>
        </p:spPr>
        <p:txBody>
          <a:bodyPr wrap="square" lIns="0" rIns="0" tIns="0" bIns="0" anchor="t">
            <a:spAutoFit/>
          </a:bodyPr>
          <a:lstStyle/>
          <a:p>
            <a:pPr algn="l">
              <a:lnSpc>
                <a:spcPct val="110000"/>
              </a:lnSpc>
            </a:pPr>
            <a:r>
              <a:rPr sz="4200" b="0">
                <a:solidFill>
                  <a:srgbClr val="111111"/>
                </a:solidFill>
                <a:latin typeface="Poppins"/>
              </a:rPr>
              <a:t>A named, trusted buying brand with an engine behind it.</a:t>
            </a:r>
          </a:p>
        </p:txBody>
      </p:sp>
      <p:sp>
        <p:nvSpPr>
          <p:cNvPr id="4" name="TextBox 3"/>
          <p:cNvSpPr txBox="1"/>
          <p:nvPr/>
        </p:nvSpPr>
        <p:spPr>
          <a:xfrm>
            <a:off x="914400" y="4023360"/>
            <a:ext cx="7315200" cy="22860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Brand, sales and marketing rebuilt in Adam's voice. Direct, warm, no sales pressure. Maxxim runs the marketing system end to end. JewellAI keeps the operating system current as every session banks new judgement. The trust moments stay human. We document them to train people, never to replace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PROOF</a:t>
            </a:r>
          </a:p>
        </p:txBody>
      </p:sp>
      <p:sp>
        <p:nvSpPr>
          <p:cNvPr id="3" name="TextBox 2"/>
          <p:cNvSpPr txBox="1"/>
          <p:nvPr/>
        </p:nvSpPr>
        <p:spPr>
          <a:xfrm>
            <a:off x="914400" y="1645920"/>
            <a:ext cx="10332720" cy="2011680"/>
          </a:xfrm>
          <a:prstGeom prst="rect">
            <a:avLst/>
          </a:prstGeom>
          <a:noFill/>
        </p:spPr>
        <p:txBody>
          <a:bodyPr wrap="square" lIns="0" rIns="0" tIns="0" bIns="0" anchor="t">
            <a:spAutoFit/>
          </a:bodyPr>
          <a:lstStyle/>
          <a:p>
            <a:pPr algn="l">
              <a:lnSpc>
                <a:spcPct val="110000"/>
              </a:lnSpc>
            </a:pPr>
            <a:r>
              <a:rPr sz="4200" b="0">
                <a:solidFill>
                  <a:srgbClr val="111111"/>
                </a:solidFill>
                <a:latin typeface="Poppins"/>
              </a:rPr>
              <a:t>This is the house method, already running for BTC.</a:t>
            </a:r>
          </a:p>
        </p:txBody>
      </p:sp>
      <p:sp>
        <p:nvSpPr>
          <p:cNvPr id="4" name="TextBox 3"/>
          <p:cNvSpPr txBox="1"/>
          <p:nvPr/>
        </p:nvSpPr>
        <p:spPr>
          <a:xfrm>
            <a:off x="914400" y="4023360"/>
            <a:ext cx="7315200" cy="22860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The Jewell 3D process, JewellAI capture and Maxxim activation are live across JP clients today, including BTC. Adam Hall gets the version tuned for a trust-conversion business. Not an experiment. A system with proof behind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111111"/>
                </a:solidFill>
                <a:latin typeface="Poppins"/>
              </a:rPr>
              <a:t>WHAT WE NEED FROM ADAM</a:t>
            </a:r>
          </a:p>
        </p:txBody>
      </p:sp>
      <p:sp>
        <p:nvSpPr>
          <p:cNvPr id="3" name="TextBox 2"/>
          <p:cNvSpPr txBox="1"/>
          <p:nvPr/>
        </p:nvSpPr>
        <p:spPr>
          <a:xfrm>
            <a:off x="914400" y="1645920"/>
            <a:ext cx="10332720" cy="2011680"/>
          </a:xfrm>
          <a:prstGeom prst="rect">
            <a:avLst/>
          </a:prstGeom>
          <a:noFill/>
        </p:spPr>
        <p:txBody>
          <a:bodyPr wrap="square" lIns="0" rIns="0" tIns="0" bIns="0" anchor="t">
            <a:spAutoFit/>
          </a:bodyPr>
          <a:lstStyle/>
          <a:p>
            <a:pPr algn="l">
              <a:lnSpc>
                <a:spcPct val="110000"/>
              </a:lnSpc>
            </a:pPr>
            <a:r>
              <a:rPr sz="4200" b="0">
                <a:solidFill>
                  <a:srgbClr val="111111"/>
                </a:solidFill>
                <a:latin typeface="Poppins"/>
              </a:rPr>
              <a:t>Two mapping sessions a week. The rest is on us.</a:t>
            </a:r>
          </a:p>
        </p:txBody>
      </p:sp>
      <p:sp>
        <p:nvSpPr>
          <p:cNvPr id="4" name="TextBox 3"/>
          <p:cNvSpPr txBox="1"/>
          <p:nvPr/>
        </p:nvSpPr>
        <p:spPr>
          <a:xfrm>
            <a:off x="914400" y="4023360"/>
            <a:ext cx="7315200" cy="22860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Sessions run alongside real work, light touch by default. One question at a time, no laptops between Adam and his customers. Automation ideas go to a backlog, never designed in the room. Vague answers get one follow-up. The last real example.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D5BFF"/>
        </a:solidFill>
        <a:effectLst/>
      </p:bgPr>
    </p:bg>
    <p:spTree>
      <p:nvGrpSpPr>
        <p:cNvPr id="1" name=""/>
        <p:cNvGrpSpPr/>
        <p:nvPr/>
      </p:nvGrpSpPr>
      <p:grpSpPr/>
      <p:sp>
        <p:nvSpPr>
          <p:cNvPr id="2" name="TextBox 1"/>
          <p:cNvSpPr txBox="1"/>
          <p:nvPr/>
        </p:nvSpPr>
        <p:spPr>
          <a:xfrm>
            <a:off x="914400" y="914400"/>
            <a:ext cx="10332720" cy="274320"/>
          </a:xfrm>
          <a:prstGeom prst="rect">
            <a:avLst/>
          </a:prstGeom>
          <a:noFill/>
        </p:spPr>
        <p:txBody>
          <a:bodyPr wrap="square" lIns="0" rIns="0" tIns="0" bIns="0" anchor="t">
            <a:spAutoFit/>
          </a:bodyPr>
          <a:lstStyle/>
          <a:p>
            <a:pPr algn="l">
              <a:lnSpc>
                <a:spcPct val="150000"/>
              </a:lnSpc>
            </a:pPr>
            <a:r>
              <a:rPr sz="900" b="0" spc="200">
                <a:solidFill>
                  <a:srgbClr val="FAF8F4"/>
                </a:solidFill>
                <a:latin typeface="Poppins"/>
              </a:rPr>
              <a:t>GATE 1 · APPROVAL TO PROCEED</a:t>
            </a:r>
          </a:p>
        </p:txBody>
      </p:sp>
      <p:sp>
        <p:nvSpPr>
          <p:cNvPr id="3" name="TextBox 2"/>
          <p:cNvSpPr txBox="1"/>
          <p:nvPr/>
        </p:nvSpPr>
        <p:spPr>
          <a:xfrm>
            <a:off x="914400" y="2377440"/>
            <a:ext cx="10332720" cy="1371600"/>
          </a:xfrm>
          <a:prstGeom prst="rect">
            <a:avLst/>
          </a:prstGeom>
          <a:noFill/>
        </p:spPr>
        <p:txBody>
          <a:bodyPr wrap="square" lIns="0" rIns="0" tIns="0" bIns="0" anchor="t">
            <a:spAutoFit/>
          </a:bodyPr>
          <a:lstStyle/>
          <a:p>
            <a:pPr algn="l">
              <a:lnSpc>
                <a:spcPct val="120000"/>
              </a:lnSpc>
            </a:pPr>
            <a:r>
              <a:rPr sz="3200" b="1">
                <a:solidFill>
                  <a:srgbClr val="FAF8F4"/>
                </a:solidFill>
                <a:latin typeface="Poppins"/>
              </a:rPr>
              <a:t>Approve the mapping phase. First session this week.</a:t>
            </a:r>
          </a:p>
        </p:txBody>
      </p:sp>
      <p:sp>
        <p:nvSpPr>
          <p:cNvPr id="4" name="TextBox 3"/>
          <p:cNvSpPr txBox="1"/>
          <p:nvPr/>
        </p:nvSpPr>
        <p:spPr>
          <a:xfrm>
            <a:off x="914400" y="4023360"/>
            <a:ext cx="10332720" cy="1371600"/>
          </a:xfrm>
          <a:prstGeom prst="rect">
            <a:avLst/>
          </a:prstGeom>
          <a:noFill/>
        </p:spPr>
        <p:txBody>
          <a:bodyPr wrap="square" lIns="0" rIns="0" tIns="0" bIns="0" anchor="t">
            <a:spAutoFit/>
          </a:bodyPr>
          <a:lstStyle/>
          <a:p>
            <a:pPr algn="l">
              <a:lnSpc>
                <a:spcPct val="150000"/>
              </a:lnSpc>
            </a:pPr>
            <a:r>
              <a:rPr sz="1400" b="0">
                <a:solidFill>
                  <a:srgbClr val="FAF8F4"/>
                </a:solidFill>
                <a:latin typeface="Poppins"/>
              </a:rPr>
              <a:t>On approval we confirm scope, session cadence and the first month's plan. Everything captured feeds the Intelligence Brief. Anything unvalidated stays flagged until Adam confirms it.</a:t>
            </a:r>
          </a:p>
        </p:txBody>
      </p:sp>
      <p:cxnSp>
        <p:nvCxnSpPr>
          <p:cNvPr id="5" name="Connector 4"/>
          <p:cNvCxnSpPr/>
          <p:nvPr/>
        </p:nvCxnSpPr>
        <p:spPr>
          <a:xfrm>
            <a:off x="914400" y="6035040"/>
            <a:ext cx="10332720" cy="0"/>
          </a:xfrm>
          <a:prstGeom prst="line">
            <a:avLst/>
          </a:prstGeom>
          <a:ln w="6350">
            <a:solidFill>
              <a:srgbClr val="FAF8F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14400" y="6172200"/>
            <a:ext cx="5029200" cy="274320"/>
          </a:xfrm>
          <a:prstGeom prst="rect">
            <a:avLst/>
          </a:prstGeom>
          <a:noFill/>
        </p:spPr>
        <p:txBody>
          <a:bodyPr wrap="square" lIns="0" rIns="0" tIns="0" bIns="0" anchor="t">
            <a:spAutoFit/>
          </a:bodyPr>
          <a:lstStyle/>
          <a:p>
            <a:pPr algn="l">
              <a:lnSpc>
                <a:spcPct val="150000"/>
              </a:lnSpc>
            </a:pPr>
            <a:r>
              <a:rPr sz="1100" b="0">
                <a:solidFill>
                  <a:srgbClr val="FAF8F4"/>
                </a:solidFill>
                <a:latin typeface="Poppins"/>
              </a:rPr>
              <a:t>Sign-off: Adam Hall</a:t>
            </a:r>
          </a:p>
        </p:txBody>
      </p:sp>
      <p:sp>
        <p:nvSpPr>
          <p:cNvPr id="7" name="TextBox 6"/>
          <p:cNvSpPr txBox="1"/>
          <p:nvPr/>
        </p:nvSpPr>
        <p:spPr>
          <a:xfrm>
            <a:off x="7132320" y="6172200"/>
            <a:ext cx="4114800" cy="274320"/>
          </a:xfrm>
          <a:prstGeom prst="rect">
            <a:avLst/>
          </a:prstGeom>
          <a:noFill/>
        </p:spPr>
        <p:txBody>
          <a:bodyPr wrap="square" lIns="0" rIns="0" tIns="0" bIns="0" anchor="t">
            <a:spAutoFit/>
          </a:bodyPr>
          <a:lstStyle/>
          <a:p>
            <a:pPr algn="r">
              <a:lnSpc>
                <a:spcPct val="150000"/>
              </a:lnSpc>
            </a:pPr>
            <a:r>
              <a:rPr sz="1100" b="0">
                <a:solidFill>
                  <a:srgbClr val="FAF8F4"/>
                </a:solidFill>
                <a:latin typeface="Poppins"/>
              </a:rPr>
              <a:t>14 July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1828800"/>
            <a:ext cx="10332720" cy="1828800"/>
          </a:xfrm>
          <a:prstGeom prst="rect">
            <a:avLst/>
          </a:prstGeom>
          <a:noFill/>
        </p:spPr>
        <p:txBody>
          <a:bodyPr wrap="square" lIns="0" rIns="0" tIns="0" bIns="0" anchor="t">
            <a:spAutoFit/>
          </a:bodyPr>
          <a:lstStyle/>
          <a:p>
            <a:pPr algn="l">
              <a:lnSpc>
                <a:spcPct val="100000"/>
              </a:lnSpc>
            </a:pPr>
            <a:r>
              <a:rPr sz="12000" b="1">
                <a:solidFill>
                  <a:srgbClr val="111111"/>
                </a:solidFill>
                <a:latin typeface="Poppins"/>
              </a:rPr>
              <a:t>Next.</a:t>
            </a:r>
          </a:p>
        </p:txBody>
      </p:sp>
      <p:sp>
        <p:nvSpPr>
          <p:cNvPr id="3" name="TextBox 2"/>
          <p:cNvSpPr txBox="1"/>
          <p:nvPr/>
        </p:nvSpPr>
        <p:spPr>
          <a:xfrm>
            <a:off x="914400" y="4206240"/>
            <a:ext cx="10332720" cy="4572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Session one booked before Adam leaves today.</a:t>
            </a:r>
          </a:p>
        </p:txBody>
      </p:sp>
      <p:sp>
        <p:nvSpPr>
          <p:cNvPr id="4" name="TextBox 3"/>
          <p:cNvSpPr txBox="1"/>
          <p:nvPr/>
        </p:nvSpPr>
        <p:spPr>
          <a:xfrm>
            <a:off x="914400" y="4663440"/>
            <a:ext cx="10332720" cy="457200"/>
          </a:xfrm>
          <a:prstGeom prst="rect">
            <a:avLst/>
          </a:prstGeom>
          <a:noFill/>
        </p:spPr>
        <p:txBody>
          <a:bodyPr wrap="square" lIns="0" rIns="0" tIns="0" bIns="0" anchor="t">
            <a:spAutoFit/>
          </a:bodyPr>
          <a:lstStyle/>
          <a:p>
            <a:pPr algn="l">
              <a:lnSpc>
                <a:spcPct val="150000"/>
              </a:lnSpc>
            </a:pPr>
            <a:r>
              <a:rPr sz="1400" b="0">
                <a:solidFill>
                  <a:srgbClr val="111111"/>
                </a:solidFill>
                <a:latin typeface="Poppins"/>
              </a:rPr>
              <a:t>Clent Jewell · clent@jewellprojects.com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